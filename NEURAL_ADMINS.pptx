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ptos Bold" panose="020B0604020202020204" charset="0"/>
      <p:regular r:id="rId10"/>
    </p:embeddedFont>
    <p:embeddedFont>
      <p:font typeface="Archivo Black" panose="020B0604020202020204" charset="0"/>
      <p:regular r:id="rId11"/>
    </p:embeddedFon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6268" y="6513043"/>
            <a:ext cx="4132316" cy="1455601"/>
            <a:chOff x="0" y="0"/>
            <a:chExt cx="5509755" cy="19408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689444" y="6513043"/>
            <a:ext cx="4818650" cy="1455601"/>
            <a:chOff x="0" y="0"/>
            <a:chExt cx="6424866" cy="19408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424803" cy="1940814"/>
            </a:xfrm>
            <a:custGeom>
              <a:avLst/>
              <a:gdLst/>
              <a:ahLst/>
              <a:cxnLst/>
              <a:rect l="l" t="t" r="r" b="b"/>
              <a:pathLst>
                <a:path w="6424803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6101334" y="0"/>
                  </a:lnTo>
                  <a:cubicBezTo>
                    <a:pt x="6280023" y="0"/>
                    <a:pt x="6424803" y="144780"/>
                    <a:pt x="6424803" y="323469"/>
                  </a:cubicBezTo>
                  <a:lnTo>
                    <a:pt x="6424803" y="1617345"/>
                  </a:lnTo>
                  <a:cubicBezTo>
                    <a:pt x="6424803" y="1796034"/>
                    <a:pt x="6280023" y="1940814"/>
                    <a:pt x="6101334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11494" y="6513043"/>
            <a:ext cx="4132316" cy="1455601"/>
            <a:chOff x="0" y="0"/>
            <a:chExt cx="5509755" cy="19408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09768" cy="1940814"/>
            </a:xfrm>
            <a:custGeom>
              <a:avLst/>
              <a:gdLst/>
              <a:ahLst/>
              <a:cxnLst/>
              <a:rect l="l" t="t" r="r" b="b"/>
              <a:pathLst>
                <a:path w="5509768" h="1940814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5186299" y="0"/>
                  </a:lnTo>
                  <a:cubicBezTo>
                    <a:pt x="5364988" y="0"/>
                    <a:pt x="5509768" y="144780"/>
                    <a:pt x="5509768" y="323469"/>
                  </a:cubicBezTo>
                  <a:lnTo>
                    <a:pt x="5509768" y="1617345"/>
                  </a:lnTo>
                  <a:cubicBezTo>
                    <a:pt x="5509768" y="1796034"/>
                    <a:pt x="5364988" y="1940814"/>
                    <a:pt x="5186299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2273B"/>
            </a:solidFill>
            <a:ln w="14299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5172677" y="8504960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983675" y="2766898"/>
            <a:ext cx="16151924" cy="2616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5704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NEURAL ADMINS</a:t>
            </a:r>
          </a:p>
          <a:p>
            <a:pPr>
              <a:lnSpc>
                <a:spcPts val="6845"/>
              </a:lnSpc>
            </a:pPr>
            <a:r>
              <a:rPr lang="en-IN" sz="6000" dirty="0">
                <a:solidFill>
                  <a:schemeClr val="bg1"/>
                </a:solidFill>
              </a:rPr>
              <a:t>Brain Computer Interface for Accessible Human Computer Interaction</a:t>
            </a:r>
            <a:endParaRPr lang="en-US" sz="5704" b="1" dirty="0">
              <a:solidFill>
                <a:schemeClr val="bg1"/>
              </a:solidFill>
              <a:latin typeface="Aptos Bold"/>
              <a:ea typeface="Aptos Bold"/>
              <a:cs typeface="Aptos Bold"/>
              <a:sym typeface="Aptos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6062" y="5575428"/>
            <a:ext cx="14641982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42"/>
              </a:lnSpc>
            </a:pPr>
            <a:r>
              <a:rPr lang="en-US" sz="2800" dirty="0">
                <a:solidFill>
                  <a:schemeClr val="bg1"/>
                </a:solidFill>
              </a:rPr>
              <a:t>A low-cost EEG-based Brain Computer Interface that converts brain and eye-related signals into real-time digital commands for communication, interaction and assistive applications.</a:t>
            </a:r>
            <a:endParaRPr lang="en-US" sz="2702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326842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26842" y="7214149"/>
            <a:ext cx="4072404" cy="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NEURAL ADMINS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90018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90018" y="7214149"/>
            <a:ext cx="4072404" cy="38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[Open Innovation / Bio × Engineering]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512077" y="6784419"/>
            <a:ext cx="3660600" cy="280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1">
                <a:solidFill>
                  <a:srgbClr val="2AC97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COLLEGE / ORGANIZATION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52915" y="7225336"/>
            <a:ext cx="4072404" cy="27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dirty="0">
                <a:solidFill>
                  <a:srgbClr val="F5F7FA"/>
                </a:solidFill>
                <a:latin typeface="Calibri (MS)"/>
                <a:ea typeface="Calibri (MS)"/>
                <a:cs typeface="Calibri (MS)"/>
                <a:sym typeface="Calibri (MS)"/>
              </a:rPr>
              <a:t>THIAGARAJAR COLLEGE OF ENGINEERING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3675" y="8416319"/>
            <a:ext cx="15602855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1">
                <a:solidFill>
                  <a:srgbClr val="278DD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VMEDITHON 3.0  |  VIT CHENNAI  |  SEPTEMBER 15~16, 2026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1/7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01. PROBLEM STATEMENT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Define the healthcare or engineering challenge your team is solving.</a:t>
            </a:r>
          </a:p>
        </p:txBody>
      </p:sp>
      <p:sp>
        <p:nvSpPr>
          <p:cNvPr id="11" name="Freeform 11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846411" y="3810943"/>
            <a:ext cx="7842604" cy="4915052"/>
          </a:xfrm>
          <a:custGeom>
            <a:avLst/>
            <a:gdLst/>
            <a:ahLst/>
            <a:cxnLst/>
            <a:rect l="l" t="t" r="r" b="b"/>
            <a:pathLst>
              <a:path w="2065542" h="1294499">
                <a:moveTo>
                  <a:pt x="51332" y="0"/>
                </a:moveTo>
                <a:lnTo>
                  <a:pt x="2014209" y="0"/>
                </a:lnTo>
                <a:cubicBezTo>
                  <a:pt x="2027824" y="0"/>
                  <a:pt x="2040880" y="5408"/>
                  <a:pt x="2050507" y="15035"/>
                </a:cubicBezTo>
                <a:cubicBezTo>
                  <a:pt x="2060134" y="24662"/>
                  <a:pt x="2065542" y="37718"/>
                  <a:pt x="2065542" y="51332"/>
                </a:cubicBezTo>
                <a:lnTo>
                  <a:pt x="2065542" y="1243167"/>
                </a:lnTo>
                <a:cubicBezTo>
                  <a:pt x="2065542" y="1256781"/>
                  <a:pt x="2060134" y="1269838"/>
                  <a:pt x="2050507" y="1279464"/>
                </a:cubicBezTo>
                <a:cubicBezTo>
                  <a:pt x="2040880" y="1289091"/>
                  <a:pt x="2027824" y="1294499"/>
                  <a:pt x="2014209" y="1294499"/>
                </a:cubicBezTo>
                <a:lnTo>
                  <a:pt x="51332" y="1294499"/>
                </a:lnTo>
                <a:cubicBezTo>
                  <a:pt x="37718" y="1294499"/>
                  <a:pt x="24662" y="1289091"/>
                  <a:pt x="15035" y="1279464"/>
                </a:cubicBezTo>
                <a:cubicBezTo>
                  <a:pt x="5408" y="1269838"/>
                  <a:pt x="0" y="1256781"/>
                  <a:pt x="0" y="1243167"/>
                </a:cubicBezTo>
                <a:lnTo>
                  <a:pt x="0" y="51332"/>
                </a:lnTo>
                <a:cubicBezTo>
                  <a:pt x="0" y="37718"/>
                  <a:pt x="5408" y="24662"/>
                  <a:pt x="15035" y="15035"/>
                </a:cubicBezTo>
                <a:cubicBezTo>
                  <a:pt x="24662" y="5408"/>
                  <a:pt x="37718" y="0"/>
                  <a:pt x="51332" y="0"/>
                </a:cubicBezTo>
                <a:close/>
              </a:path>
            </a:pathLst>
          </a:custGeom>
          <a:solidFill>
            <a:srgbClr val="12273B"/>
          </a:solidFill>
          <a:ln w="38100" cap="rnd">
            <a:solidFill>
              <a:srgbClr val="304F67"/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Box 14"/>
          <p:cNvSpPr txBox="1"/>
          <p:nvPr/>
        </p:nvSpPr>
        <p:spPr>
          <a:xfrm>
            <a:off x="846411" y="3810943"/>
            <a:ext cx="7842604" cy="491505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161"/>
              </a:lnSpc>
            </a:pPr>
            <a:endParaRPr/>
          </a:p>
        </p:txBody>
      </p:sp>
      <p:grpSp>
        <p:nvGrpSpPr>
          <p:cNvPr id="15" name="Group 15"/>
          <p:cNvGrpSpPr/>
          <p:nvPr/>
        </p:nvGrpSpPr>
        <p:grpSpPr>
          <a:xfrm>
            <a:off x="9352093" y="3849043"/>
            <a:ext cx="8117834" cy="2280130"/>
            <a:chOff x="0" y="0"/>
            <a:chExt cx="2138030" cy="6005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54360" y="0"/>
                  </a:moveTo>
                  <a:lnTo>
                    <a:pt x="2083670" y="0"/>
                  </a:lnTo>
                  <a:cubicBezTo>
                    <a:pt x="2098087" y="0"/>
                    <a:pt x="2111914" y="5727"/>
                    <a:pt x="2122108" y="15922"/>
                  </a:cubicBezTo>
                  <a:cubicBezTo>
                    <a:pt x="2132303" y="26116"/>
                    <a:pt x="2138030" y="39943"/>
                    <a:pt x="2138030" y="54360"/>
                  </a:cubicBezTo>
                  <a:lnTo>
                    <a:pt x="2138030" y="546168"/>
                  </a:lnTo>
                  <a:cubicBezTo>
                    <a:pt x="2138030" y="576190"/>
                    <a:pt x="2113692" y="600528"/>
                    <a:pt x="2083670" y="600528"/>
                  </a:cubicBezTo>
                  <a:lnTo>
                    <a:pt x="54360" y="600528"/>
                  </a:lnTo>
                  <a:cubicBezTo>
                    <a:pt x="24338" y="600528"/>
                    <a:pt x="0" y="576190"/>
                    <a:pt x="0" y="546168"/>
                  </a:cubicBezTo>
                  <a:lnTo>
                    <a:pt x="0" y="54360"/>
                  </a:lnTo>
                  <a:cubicBezTo>
                    <a:pt x="0" y="24338"/>
                    <a:pt x="24338" y="0"/>
                    <a:pt x="54360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52093" y="6445864"/>
            <a:ext cx="8117834" cy="2761397"/>
            <a:chOff x="0" y="0"/>
            <a:chExt cx="2138030" cy="6005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38030" cy="600528"/>
            </a:xfrm>
            <a:custGeom>
              <a:avLst/>
              <a:gdLst/>
              <a:ahLst/>
              <a:cxnLst/>
              <a:rect l="l" t="t" r="r" b="b"/>
              <a:pathLst>
                <a:path w="2138030" h="600528">
                  <a:moveTo>
                    <a:pt x="49592" y="0"/>
                  </a:moveTo>
                  <a:lnTo>
                    <a:pt x="2088438" y="0"/>
                  </a:lnTo>
                  <a:cubicBezTo>
                    <a:pt x="2101591" y="0"/>
                    <a:pt x="2114205" y="5225"/>
                    <a:pt x="2123505" y="14525"/>
                  </a:cubicBezTo>
                  <a:cubicBezTo>
                    <a:pt x="2132805" y="23825"/>
                    <a:pt x="2138030" y="36439"/>
                    <a:pt x="2138030" y="49592"/>
                  </a:cubicBezTo>
                  <a:lnTo>
                    <a:pt x="2138030" y="550936"/>
                  </a:lnTo>
                  <a:cubicBezTo>
                    <a:pt x="2138030" y="578325"/>
                    <a:pt x="2115827" y="600528"/>
                    <a:pt x="2088438" y="600528"/>
                  </a:cubicBezTo>
                  <a:lnTo>
                    <a:pt x="49592" y="600528"/>
                  </a:lnTo>
                  <a:cubicBezTo>
                    <a:pt x="22203" y="600528"/>
                    <a:pt x="0" y="578325"/>
                    <a:pt x="0" y="550936"/>
                  </a:cubicBezTo>
                  <a:lnTo>
                    <a:pt x="0" y="49592"/>
                  </a:lnTo>
                  <a:cubicBezTo>
                    <a:pt x="0" y="22203"/>
                    <a:pt x="22203" y="0"/>
                    <a:pt x="49592" y="0"/>
                  </a:cubicBezTo>
                  <a:close/>
                </a:path>
              </a:pathLst>
            </a:custGeom>
            <a:solidFill>
              <a:srgbClr val="12273B"/>
            </a:solidFill>
            <a:ln w="38100" cap="rnd">
              <a:solidFill>
                <a:srgbClr val="304F67"/>
              </a:solidFill>
              <a:prstDash val="solid"/>
              <a:round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138030" cy="6005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99391" y="4126763"/>
            <a:ext cx="7229551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THE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9391" y="4781436"/>
            <a:ext cx="6870986" cy="2768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People with severe motor impairments may have difficulty interacting with conventional computers, keyboards and physical input devices.</a:t>
            </a:r>
          </a:p>
          <a:p>
            <a:r>
              <a:rPr lang="en-US" dirty="0">
                <a:solidFill>
                  <a:schemeClr val="bg1"/>
                </a:solidFill>
              </a:rPr>
              <a:t>Traditional assistive interfaces often depend on:</a:t>
            </a:r>
          </a:p>
          <a:p>
            <a:r>
              <a:rPr lang="en-US" dirty="0">
                <a:solidFill>
                  <a:schemeClr val="bg1"/>
                </a:solidFill>
              </a:rPr>
              <a:t>Physical movement </a:t>
            </a:r>
          </a:p>
          <a:p>
            <a:r>
              <a:rPr lang="en-US" dirty="0">
                <a:solidFill>
                  <a:schemeClr val="bg1"/>
                </a:solidFill>
              </a:rPr>
              <a:t>Muscle control </a:t>
            </a:r>
          </a:p>
          <a:p>
            <a:r>
              <a:rPr lang="en-US" dirty="0">
                <a:solidFill>
                  <a:schemeClr val="bg1"/>
                </a:solidFill>
              </a:rPr>
              <a:t>Voice commands </a:t>
            </a:r>
          </a:p>
          <a:p>
            <a:r>
              <a:rPr lang="en-US" dirty="0">
                <a:solidFill>
                  <a:schemeClr val="bg1"/>
                </a:solidFill>
              </a:rPr>
              <a:t>Expensive specialized equipment </a:t>
            </a:r>
          </a:p>
          <a:p>
            <a:r>
              <a:rPr lang="en-US" dirty="0">
                <a:solidFill>
                  <a:schemeClr val="bg1"/>
                </a:solidFill>
              </a:rPr>
              <a:t>Complex clinical setups </a:t>
            </a:r>
          </a:p>
          <a:p>
            <a:r>
              <a:rPr lang="en-US" dirty="0">
                <a:solidFill>
                  <a:schemeClr val="bg1"/>
                </a:solidFill>
              </a:rPr>
              <a:t>This creates a gap between </a:t>
            </a:r>
            <a:r>
              <a:rPr lang="en-US" b="1" dirty="0">
                <a:solidFill>
                  <a:schemeClr val="bg1"/>
                </a:solidFill>
              </a:rPr>
              <a:t>human intention and digital interaction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837410" y="4126763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TARGET USERS / STAKEHOLDERS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23123" y="4536340"/>
            <a:ext cx="7229551" cy="1660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Primary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People with severe motor disabilities  </a:t>
            </a:r>
          </a:p>
          <a:p>
            <a:r>
              <a:rPr lang="en-US" b="1" dirty="0">
                <a:solidFill>
                  <a:schemeClr val="bg1"/>
                </a:solidFill>
              </a:rPr>
              <a:t>Secondary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Doctors &amp; rehabilitation professionals </a:t>
            </a:r>
          </a:p>
          <a:p>
            <a:r>
              <a:rPr lang="en-US" dirty="0">
                <a:solidFill>
                  <a:schemeClr val="bg1"/>
                </a:solidFill>
              </a:rPr>
              <a:t>Assistive-technology researchers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837410" y="6734832"/>
            <a:ext cx="7229551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EVIDENCE &amp; CURRENT GAP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73732" y="6844717"/>
            <a:ext cx="7678546" cy="24300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Current gap: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Commercial BCI systems can be expensive, difficult to access and require specialized hardware/software.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Our opportunity: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Build a </a:t>
            </a:r>
            <a:r>
              <a:rPr lang="en-US" sz="2000" b="1" dirty="0">
                <a:solidFill>
                  <a:schemeClr val="bg1"/>
                </a:solidFill>
              </a:rPr>
              <a:t>low-cost, portable and extensible BCI platform</a:t>
            </a:r>
            <a:r>
              <a:rPr lang="en-US" sz="2000" dirty="0">
                <a:solidFill>
                  <a:schemeClr val="bg1"/>
                </a:solidFill>
              </a:rPr>
              <a:t> using accessible hardware and real-time signal processing.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2/7</a:t>
            </a:r>
          </a:p>
        </p:txBody>
      </p:sp>
      <p:sp>
        <p:nvSpPr>
          <p:cNvPr id="29" name="Freeform 29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Freeform 31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32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38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9" name="TextBox 39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8" name="Freeform 13">
            <a:extLst>
              <a:ext uri="{FF2B5EF4-FFF2-40B4-BE49-F238E27FC236}">
                <a16:creationId xmlns:a16="http://schemas.microsoft.com/office/drawing/2014/main" id="{5157B76C-90EE-D67B-1E8C-33B53A976C52}"/>
              </a:ext>
            </a:extLst>
          </p:cNvPr>
          <p:cNvSpPr/>
          <p:nvPr/>
        </p:nvSpPr>
        <p:spPr>
          <a:xfrm>
            <a:off x="846411" y="3810943"/>
            <a:ext cx="10104778" cy="4915052"/>
          </a:xfrm>
          <a:custGeom>
            <a:avLst/>
            <a:gdLst/>
            <a:ahLst/>
            <a:cxnLst/>
            <a:rect l="l" t="t" r="r" b="b"/>
            <a:pathLst>
              <a:path w="2065542" h="1294499">
                <a:moveTo>
                  <a:pt x="51332" y="0"/>
                </a:moveTo>
                <a:lnTo>
                  <a:pt x="2014209" y="0"/>
                </a:lnTo>
                <a:cubicBezTo>
                  <a:pt x="2027824" y="0"/>
                  <a:pt x="2040880" y="5408"/>
                  <a:pt x="2050507" y="15035"/>
                </a:cubicBezTo>
                <a:cubicBezTo>
                  <a:pt x="2060134" y="24662"/>
                  <a:pt x="2065542" y="37718"/>
                  <a:pt x="2065542" y="51332"/>
                </a:cubicBezTo>
                <a:lnTo>
                  <a:pt x="2065542" y="1243167"/>
                </a:lnTo>
                <a:cubicBezTo>
                  <a:pt x="2065542" y="1256781"/>
                  <a:pt x="2060134" y="1269838"/>
                  <a:pt x="2050507" y="1279464"/>
                </a:cubicBezTo>
                <a:cubicBezTo>
                  <a:pt x="2040880" y="1289091"/>
                  <a:pt x="2027824" y="1294499"/>
                  <a:pt x="2014209" y="1294499"/>
                </a:cubicBezTo>
                <a:lnTo>
                  <a:pt x="51332" y="1294499"/>
                </a:lnTo>
                <a:cubicBezTo>
                  <a:pt x="37718" y="1294499"/>
                  <a:pt x="24662" y="1289091"/>
                  <a:pt x="15035" y="1279464"/>
                </a:cubicBezTo>
                <a:cubicBezTo>
                  <a:pt x="5408" y="1269838"/>
                  <a:pt x="0" y="1256781"/>
                  <a:pt x="0" y="1243167"/>
                </a:cubicBezTo>
                <a:lnTo>
                  <a:pt x="0" y="51332"/>
                </a:lnTo>
                <a:cubicBezTo>
                  <a:pt x="0" y="37718"/>
                  <a:pt x="5408" y="24662"/>
                  <a:pt x="15035" y="15035"/>
                </a:cubicBezTo>
                <a:cubicBezTo>
                  <a:pt x="24662" y="5408"/>
                  <a:pt x="37718" y="0"/>
                  <a:pt x="51332" y="0"/>
                </a:cubicBezTo>
                <a:close/>
              </a:path>
            </a:pathLst>
          </a:custGeom>
          <a:solidFill>
            <a:srgbClr val="12273B"/>
          </a:solidFill>
          <a:ln w="38100" cap="rnd">
            <a:solidFill>
              <a:srgbClr val="304F67"/>
            </a:solidFill>
            <a:prstDash val="solid"/>
            <a:round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02. OUR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Explain what you are building and how it directly addresses the identified problem.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520916" y="3833946"/>
            <a:ext cx="5921559" cy="2215344"/>
            <a:chOff x="0" y="0"/>
            <a:chExt cx="7895412" cy="29537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520916" y="6510661"/>
            <a:ext cx="6159112" cy="2722894"/>
            <a:chOff x="0" y="0"/>
            <a:chExt cx="7895412" cy="29537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95336" cy="2953766"/>
            </a:xfrm>
            <a:custGeom>
              <a:avLst/>
              <a:gdLst/>
              <a:ahLst/>
              <a:cxnLst/>
              <a:rect l="l" t="t" r="r" b="b"/>
              <a:pathLst>
                <a:path w="7895336" h="2953766">
                  <a:moveTo>
                    <a:pt x="0" y="492252"/>
                  </a:moveTo>
                  <a:cubicBezTo>
                    <a:pt x="0" y="220472"/>
                    <a:pt x="220472" y="0"/>
                    <a:pt x="492252" y="0"/>
                  </a:cubicBezTo>
                  <a:lnTo>
                    <a:pt x="7403084" y="0"/>
                  </a:lnTo>
                  <a:cubicBezTo>
                    <a:pt x="7674990" y="0"/>
                    <a:pt x="7895336" y="220472"/>
                    <a:pt x="7895336" y="492252"/>
                  </a:cubicBezTo>
                  <a:lnTo>
                    <a:pt x="7895336" y="2461514"/>
                  </a:lnTo>
                  <a:cubicBezTo>
                    <a:pt x="7895336" y="2733421"/>
                    <a:pt x="7674864" y="2953766"/>
                    <a:pt x="7403084" y="2953766"/>
                  </a:cubicBezTo>
                  <a:lnTo>
                    <a:pt x="492252" y="2953766"/>
                  </a:lnTo>
                  <a:cubicBezTo>
                    <a:pt x="220472" y="2953766"/>
                    <a:pt x="0" y="2733421"/>
                    <a:pt x="0" y="24615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126763"/>
            <a:ext cx="942582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SOLUTION OVERVIEW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81436"/>
            <a:ext cx="9425826" cy="2768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</a:rPr>
              <a:t>NeuroBridge</a:t>
            </a:r>
            <a:r>
              <a:rPr lang="en-US" dirty="0">
                <a:solidFill>
                  <a:schemeClr val="bg1"/>
                </a:solidFill>
              </a:rPr>
              <a:t> captures neural  signals using an EEG-based interface and processes them in real time to identify intentional user actions.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The system converts detected signals into commands that can control: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Digital keyboard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Games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Computer interfaces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Assistive communication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</a:rPr>
              <a:t>Future smart-device control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006234" y="4126763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KEY VALUE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06234" y="4781436"/>
            <a:ext cx="5033277" cy="275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1"/>
              </a:lnSpc>
            </a:pPr>
            <a:r>
              <a:rPr lang="en-IN" dirty="0">
                <a:solidFill>
                  <a:schemeClr val="bg1"/>
                </a:solidFill>
              </a:rPr>
              <a:t>Think → Detect → Interpret → Control</a:t>
            </a: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006234" y="6803469"/>
            <a:ext cx="5033277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CORE FEATURES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06234" y="7198298"/>
            <a:ext cx="5033277" cy="1937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01 — Real-Time Signal Acquisition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02 — Signal Processing &amp; Classification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03 — Assistive Digital Control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04 — Interactive Neural Dashboard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05 — Modular Architecture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3/7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03. TECHNOLOGY &amp; ARCHITECTURE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Show the technical flow behind your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16628402" cy="3519383"/>
            <a:chOff x="0" y="0"/>
            <a:chExt cx="22171203" cy="46925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171152" cy="4692523"/>
            </a:xfrm>
            <a:custGeom>
              <a:avLst/>
              <a:gdLst/>
              <a:ahLst/>
              <a:cxnLst/>
              <a:rect l="l" t="t" r="r" b="b"/>
              <a:pathLst>
                <a:path w="22171152" h="4692523">
                  <a:moveTo>
                    <a:pt x="0" y="782066"/>
                  </a:moveTo>
                  <a:cubicBezTo>
                    <a:pt x="0" y="350139"/>
                    <a:pt x="350139" y="0"/>
                    <a:pt x="782066" y="0"/>
                  </a:cubicBezTo>
                  <a:lnTo>
                    <a:pt x="21389085" y="0"/>
                  </a:lnTo>
                  <a:cubicBezTo>
                    <a:pt x="21821012" y="0"/>
                    <a:pt x="22171152" y="350139"/>
                    <a:pt x="22171152" y="782066"/>
                  </a:cubicBezTo>
                  <a:lnTo>
                    <a:pt x="22171152" y="3910457"/>
                  </a:lnTo>
                  <a:cubicBezTo>
                    <a:pt x="22171152" y="4342384"/>
                    <a:pt x="21821012" y="4692523"/>
                    <a:pt x="21389085" y="4692523"/>
                  </a:cubicBezTo>
                  <a:lnTo>
                    <a:pt x="782066" y="4692523"/>
                  </a:lnTo>
                  <a:cubicBezTo>
                    <a:pt x="350139" y="4692523"/>
                    <a:pt x="0" y="4342384"/>
                    <a:pt x="0" y="3910457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4073" y="7677436"/>
            <a:ext cx="5441118" cy="1048569"/>
            <a:chOff x="0" y="0"/>
            <a:chExt cx="7254824" cy="13980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3608" y="7686961"/>
            <a:ext cx="82363" cy="1029500"/>
            <a:chOff x="0" y="0"/>
            <a:chExt cx="109817" cy="137266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414573" y="7677436"/>
            <a:ext cx="5441118" cy="1048569"/>
            <a:chOff x="0" y="0"/>
            <a:chExt cx="7254824" cy="13980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24108" y="7686961"/>
            <a:ext cx="82363" cy="1029500"/>
            <a:chOff x="0" y="0"/>
            <a:chExt cx="109817" cy="137266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15073" y="7677436"/>
            <a:ext cx="5441118" cy="1048569"/>
            <a:chOff x="0" y="0"/>
            <a:chExt cx="7254824" cy="139809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254875" cy="1398143"/>
            </a:xfrm>
            <a:custGeom>
              <a:avLst/>
              <a:gdLst/>
              <a:ahLst/>
              <a:cxnLst/>
              <a:rect l="l" t="t" r="r" b="b"/>
              <a:pathLst>
                <a:path w="7254875" h="1398143">
                  <a:moveTo>
                    <a:pt x="0" y="233045"/>
                  </a:moveTo>
                  <a:cubicBezTo>
                    <a:pt x="0" y="104267"/>
                    <a:pt x="104267" y="0"/>
                    <a:pt x="233045" y="0"/>
                  </a:cubicBezTo>
                  <a:lnTo>
                    <a:pt x="7021830" y="0"/>
                  </a:lnTo>
                  <a:cubicBezTo>
                    <a:pt x="7150481" y="0"/>
                    <a:pt x="7254875" y="104267"/>
                    <a:pt x="7254875" y="233045"/>
                  </a:cubicBezTo>
                  <a:lnTo>
                    <a:pt x="7254875" y="1165098"/>
                  </a:lnTo>
                  <a:cubicBezTo>
                    <a:pt x="7254875" y="1293749"/>
                    <a:pt x="7150608" y="1398143"/>
                    <a:pt x="7021830" y="1398143"/>
                  </a:cubicBezTo>
                  <a:lnTo>
                    <a:pt x="233045" y="1398143"/>
                  </a:lnTo>
                  <a:cubicBezTo>
                    <a:pt x="104267" y="1398143"/>
                    <a:pt x="0" y="1293749"/>
                    <a:pt x="0" y="1165098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024608" y="7686961"/>
            <a:ext cx="82363" cy="1029500"/>
            <a:chOff x="0" y="0"/>
            <a:chExt cx="109817" cy="137266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9855" cy="1372616"/>
            </a:xfrm>
            <a:custGeom>
              <a:avLst/>
              <a:gdLst/>
              <a:ahLst/>
              <a:cxnLst/>
              <a:rect l="l" t="t" r="r" b="b"/>
              <a:pathLst>
                <a:path w="109855" h="1372616">
                  <a:moveTo>
                    <a:pt x="0" y="0"/>
                  </a:moveTo>
                  <a:lnTo>
                    <a:pt x="109855" y="0"/>
                  </a:lnTo>
                  <a:lnTo>
                    <a:pt x="109855" y="1372616"/>
                  </a:lnTo>
                  <a:lnTo>
                    <a:pt x="0" y="1372616"/>
                  </a:lnTo>
                  <a:close/>
                </a:path>
              </a:pathLst>
            </a:custGeom>
            <a:solidFill>
              <a:srgbClr val="F1BE27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Freeform 25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299391" y="4058126"/>
            <a:ext cx="15740120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SYSTEM / WORKFLOW DIAGRAM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9391" y="4712808"/>
            <a:ext cx="15740120" cy="55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1"/>
              </a:lnSpc>
            </a:pPr>
            <a:r>
              <a:rPr lang="en-IN" dirty="0">
                <a:solidFill>
                  <a:schemeClr val="bg1"/>
                </a:solidFill>
              </a:rPr>
              <a:t>USER → EEG/EOG SIGNAL ACQUISITION → NODEMCU/MICROCONTROLLER → WIRELESS DATA TRANSMISSION → PYTHON BCI PROCESSING ENGINE → SIGNAL FILTERING → FEATURE EXTRACTION → COMMAND/INTENT CLASSIFICATION → APPLICATION CONTROL → KEYBOARD / GAME / ASSISTIVE UI</a:t>
            </a: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9391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 dirty="0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INPUT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899891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PROCESSING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00400" y="7970244"/>
            <a:ext cx="4552836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OUTPUT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4/7</a:t>
            </a:r>
          </a:p>
        </p:txBody>
      </p:sp>
      <p:sp>
        <p:nvSpPr>
          <p:cNvPr id="33" name="Freeform 33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34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36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Freeform 37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8" name="Group 38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41" name="Freeform 41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2" name="Freeform 42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3" name="TextBox 43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04. INNOVATION &amp; DIFFERENTIATION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Highlight what makes your approach novel, useful, and worth building.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5372491" cy="4960687"/>
            <a:chOff x="0" y="0"/>
            <a:chExt cx="7163321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69485" y="3765318"/>
            <a:ext cx="5372491" cy="4960687"/>
            <a:chOff x="0" y="0"/>
            <a:chExt cx="7163321" cy="661424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24887" y="3765318"/>
            <a:ext cx="5372491" cy="4960687"/>
            <a:chOff x="0" y="0"/>
            <a:chExt cx="7163321" cy="661424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614160"/>
            </a:xfrm>
            <a:custGeom>
              <a:avLst/>
              <a:gdLst/>
              <a:ahLst/>
              <a:cxnLst/>
              <a:rect l="l" t="t" r="r" b="b"/>
              <a:pathLst>
                <a:path w="7163308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6060948" y="0"/>
                  </a:lnTo>
                  <a:cubicBezTo>
                    <a:pt x="6669786" y="0"/>
                    <a:pt x="7163308" y="493522"/>
                    <a:pt x="7163308" y="1102360"/>
                  </a:cubicBezTo>
                  <a:lnTo>
                    <a:pt x="7163308" y="5511800"/>
                  </a:lnTo>
                  <a:cubicBezTo>
                    <a:pt x="7163308" y="6120638"/>
                    <a:pt x="6669786" y="6614160"/>
                    <a:pt x="6060948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EXISTS TODAY?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4484208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Existing BCI solutions can involve: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Expensive hardware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Proprietary ecosystems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Complex calibration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Limited accessibility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Specialized environments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54803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WHAT WE DO DIFFERENTLY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4803" y="4712808"/>
            <a:ext cx="4484208" cy="415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"From Brain Signals to Everyday Digital Interaction"</a:t>
            </a:r>
          </a:p>
          <a:p>
            <a:r>
              <a:rPr lang="en-US" dirty="0">
                <a:solidFill>
                  <a:schemeClr val="bg1"/>
                </a:solidFill>
              </a:rPr>
              <a:t>Our approach focuses on creating an </a:t>
            </a:r>
            <a:r>
              <a:rPr lang="en-US" b="1" dirty="0">
                <a:solidFill>
                  <a:schemeClr val="bg1"/>
                </a:solidFill>
              </a:rPr>
              <a:t>accessible BCI development platform</a:t>
            </a:r>
            <a:r>
              <a:rPr lang="en-US" dirty="0">
                <a:solidFill>
                  <a:schemeClr val="bg1"/>
                </a:solidFill>
              </a:rPr>
              <a:t>, rather than a single-purpose device.</a:t>
            </a:r>
          </a:p>
          <a:p>
            <a:r>
              <a:rPr lang="en-US" b="1" dirty="0">
                <a:solidFill>
                  <a:schemeClr val="bg1"/>
                </a:solidFill>
              </a:rPr>
              <a:t>LOW-COST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Uses accessible hardware and open software technologies.</a:t>
            </a:r>
          </a:p>
          <a:p>
            <a:r>
              <a:rPr lang="en-US" b="1" dirty="0">
                <a:solidFill>
                  <a:schemeClr val="bg1"/>
                </a:solidFill>
              </a:rPr>
              <a:t>REAL-TIME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Processes signals continuously and provides immediate feedback.</a:t>
            </a:r>
          </a:p>
          <a:p>
            <a:r>
              <a:rPr lang="en-US" b="1" dirty="0">
                <a:solidFill>
                  <a:schemeClr val="bg1"/>
                </a:solidFill>
              </a:rPr>
              <a:t>MODULAR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The same BCI core can power multiple applications.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610214" y="4058126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0214" y="4456642"/>
            <a:ext cx="4484208" cy="1121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1"/>
              </a:lnSpc>
            </a:pPr>
            <a:r>
              <a:rPr lang="en-US" b="1" dirty="0">
                <a:solidFill>
                  <a:schemeClr val="bg1"/>
                </a:solidFill>
              </a:rPr>
              <a:t>We are not just measuring brain signals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we are turning biological signals into usable digital interactions.</a:t>
            </a:r>
            <a:endParaRPr lang="en-US" dirty="0">
              <a:solidFill>
                <a:schemeClr val="bg1"/>
              </a:solidFill>
            </a:endParaRP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5/7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05. IMPLEMENTATION &amp; FEASIBILITY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Demonstrate that your idea can move from concept to a practical solution.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765318"/>
            <a:ext cx="8186461" cy="4960687"/>
            <a:chOff x="0" y="0"/>
            <a:chExt cx="10915282" cy="661424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15269" cy="6614160"/>
            </a:xfrm>
            <a:custGeom>
              <a:avLst/>
              <a:gdLst/>
              <a:ahLst/>
              <a:cxnLst/>
              <a:rect l="l" t="t" r="r" b="b"/>
              <a:pathLst>
                <a:path w="10915269" h="6614160">
                  <a:moveTo>
                    <a:pt x="0" y="1102360"/>
                  </a:moveTo>
                  <a:cubicBezTo>
                    <a:pt x="0" y="493522"/>
                    <a:pt x="493522" y="0"/>
                    <a:pt x="1102360" y="0"/>
                  </a:cubicBezTo>
                  <a:lnTo>
                    <a:pt x="9812909" y="0"/>
                  </a:lnTo>
                  <a:cubicBezTo>
                    <a:pt x="10421747" y="0"/>
                    <a:pt x="10915269" y="493522"/>
                    <a:pt x="10915269" y="1102360"/>
                  </a:cubicBezTo>
                  <a:lnTo>
                    <a:pt x="10915269" y="5511800"/>
                  </a:lnTo>
                  <a:cubicBezTo>
                    <a:pt x="10915269" y="6120638"/>
                    <a:pt x="10421747" y="6614160"/>
                    <a:pt x="9812909" y="6614160"/>
                  </a:cubicBezTo>
                  <a:lnTo>
                    <a:pt x="1102360" y="6614160"/>
                  </a:lnTo>
                  <a:cubicBezTo>
                    <a:pt x="493522" y="6614287"/>
                    <a:pt x="0" y="6120638"/>
                    <a:pt x="0" y="55118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24642" y="3765318"/>
            <a:ext cx="8186461" cy="2283971"/>
            <a:chOff x="0" y="0"/>
            <a:chExt cx="10915282" cy="30452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15397" cy="3045333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24642" y="6442024"/>
            <a:ext cx="8186461" cy="2283971"/>
            <a:chOff x="0" y="0"/>
            <a:chExt cx="10915282" cy="30452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15397" cy="3045333"/>
            </a:xfrm>
            <a:custGeom>
              <a:avLst/>
              <a:gdLst/>
              <a:ahLst/>
              <a:cxnLst/>
              <a:rect l="l" t="t" r="r" b="b"/>
              <a:pathLst>
                <a:path w="10915397" h="3045333">
                  <a:moveTo>
                    <a:pt x="0" y="507619"/>
                  </a:moveTo>
                  <a:cubicBezTo>
                    <a:pt x="0" y="227203"/>
                    <a:pt x="227203" y="0"/>
                    <a:pt x="507619" y="0"/>
                  </a:cubicBezTo>
                  <a:lnTo>
                    <a:pt x="10407777" y="0"/>
                  </a:lnTo>
                  <a:cubicBezTo>
                    <a:pt x="10688066" y="0"/>
                    <a:pt x="10915397" y="227203"/>
                    <a:pt x="10915397" y="507619"/>
                  </a:cubicBezTo>
                  <a:lnTo>
                    <a:pt x="10915397" y="2537714"/>
                  </a:lnTo>
                  <a:cubicBezTo>
                    <a:pt x="10915397" y="2818003"/>
                    <a:pt x="10688193" y="3045333"/>
                    <a:pt x="10407777" y="3045333"/>
                  </a:cubicBezTo>
                  <a:lnTo>
                    <a:pt x="507619" y="3045333"/>
                  </a:lnTo>
                  <a:cubicBezTo>
                    <a:pt x="227203" y="3045333"/>
                    <a:pt x="0" y="2818003"/>
                    <a:pt x="0" y="2537714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CURRENT PROGRESS / PROTOTYPE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9391" y="4712808"/>
            <a:ext cx="7298188" cy="393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Already developed / demonstrated: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BCI signal acquisition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solidFill>
                  <a:schemeClr val="bg1"/>
                </a:solidFill>
              </a:rPr>
              <a:t>NodeMCU</a:t>
            </a:r>
            <a:r>
              <a:rPr lang="en-IN" sz="2000" dirty="0">
                <a:solidFill>
                  <a:schemeClr val="bg1"/>
                </a:solidFill>
              </a:rPr>
              <a:t>-based wireless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Real-time signal monitoring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Python processing environment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Neural Admin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Blink/EOG-based interaction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BCI keyboard prototype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Interactive BCI games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Real-time communication between hardware and software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</a:rPr>
              <a:t>Your existing </a:t>
            </a:r>
            <a:r>
              <a:rPr lang="en-IN" sz="2000" b="1" dirty="0">
                <a:solidFill>
                  <a:schemeClr val="bg1"/>
                </a:solidFill>
              </a:rPr>
              <a:t>keyboard + Dino game + ball game + dashboard</a:t>
            </a:r>
            <a:r>
              <a:rPr lang="en-IN" sz="2000" dirty="0">
                <a:solidFill>
                  <a:schemeClr val="bg1"/>
                </a:solidFill>
              </a:rPr>
              <a:t> can be shown here as evidence of implementation.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809959" y="4058126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IMPLEMENTATION PLAN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09959" y="4582898"/>
            <a:ext cx="7298188" cy="1121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161"/>
              </a:lnSpc>
            </a:pPr>
            <a:r>
              <a:rPr lang="en-IN" dirty="0">
                <a:solidFill>
                  <a:schemeClr val="bg1"/>
                </a:solidFill>
              </a:rPr>
              <a:t>PHASE 1 — PROTOTYPE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PHASE 2 — BCI APPLICATIONS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PHASE 3 — INTELLIGENT CLASSIFICATION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PHASE 4 — ASSISTIVE PLATFORM</a:t>
            </a: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809959" y="6734832"/>
            <a:ext cx="729818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RESOURCES &amp; FEASIBILITY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09959" y="7389514"/>
            <a:ext cx="7298188" cy="1383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Hardware &amp; Infrastructure:</a:t>
            </a:r>
            <a:r>
              <a:rPr lang="en-US" dirty="0">
                <a:solidFill>
                  <a:schemeClr val="bg1"/>
                </a:solidFill>
              </a:rPr>
              <a:t> System requirements, processing hardware, and core components.</a:t>
            </a:r>
          </a:p>
          <a:p>
            <a:r>
              <a:rPr lang="en-US" b="1" dirty="0">
                <a:solidFill>
                  <a:schemeClr val="bg1"/>
                </a:solidFill>
              </a:rPr>
              <a:t>Timeline &amp; Milestones:</a:t>
            </a:r>
            <a:r>
              <a:rPr lang="en-US" dirty="0">
                <a:solidFill>
                  <a:schemeClr val="bg1"/>
                </a:solidFill>
              </a:rPr>
              <a:t> Scheduled deadlines, testing phases, and checkpoint feasibility.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rgbClr val="B1C0CD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6/7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46411" y="2224068"/>
            <a:ext cx="16151924" cy="859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06. IMPACT, ROADMAP &amp; TEAM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7587" y="3065602"/>
            <a:ext cx="15602855" cy="526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Conclude with the potential of your solution and the people building it.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14073" y="3696681"/>
            <a:ext cx="5509755" cy="4892050"/>
            <a:chOff x="0" y="0"/>
            <a:chExt cx="7346340" cy="65227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46315" cy="6522720"/>
            </a:xfrm>
            <a:custGeom>
              <a:avLst/>
              <a:gdLst/>
              <a:ahLst/>
              <a:cxnLst/>
              <a:rect l="l" t="t" r="r" b="b"/>
              <a:pathLst>
                <a:path w="7346315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259195" y="0"/>
                  </a:lnTo>
                  <a:cubicBezTo>
                    <a:pt x="6859651" y="0"/>
                    <a:pt x="7346315" y="486791"/>
                    <a:pt x="7346315" y="1087120"/>
                  </a:cubicBezTo>
                  <a:lnTo>
                    <a:pt x="7346315" y="5435600"/>
                  </a:lnTo>
                  <a:cubicBezTo>
                    <a:pt x="7346315" y="6036056"/>
                    <a:pt x="6859524" y="6522720"/>
                    <a:pt x="6259195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79299" y="3696681"/>
            <a:ext cx="5235216" cy="4892050"/>
            <a:chOff x="0" y="0"/>
            <a:chExt cx="6980288" cy="65227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80301" cy="6522720"/>
            </a:xfrm>
            <a:custGeom>
              <a:avLst/>
              <a:gdLst/>
              <a:ahLst/>
              <a:cxnLst/>
              <a:rect l="l" t="t" r="r" b="b"/>
              <a:pathLst>
                <a:path w="6980301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5893181" y="0"/>
                  </a:lnTo>
                  <a:cubicBezTo>
                    <a:pt x="6493637" y="0"/>
                    <a:pt x="6980301" y="486791"/>
                    <a:pt x="6980301" y="1087120"/>
                  </a:cubicBezTo>
                  <a:lnTo>
                    <a:pt x="6980301" y="5435600"/>
                  </a:lnTo>
                  <a:cubicBezTo>
                    <a:pt x="6980301" y="6036056"/>
                    <a:pt x="6493510" y="6522720"/>
                    <a:pt x="5893181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69985" y="3696681"/>
            <a:ext cx="5916797" cy="4892050"/>
            <a:chOff x="0" y="0"/>
            <a:chExt cx="7163321" cy="65227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63308" cy="6522720"/>
            </a:xfrm>
            <a:custGeom>
              <a:avLst/>
              <a:gdLst/>
              <a:ahLst/>
              <a:cxnLst/>
              <a:rect l="l" t="t" r="r" b="b"/>
              <a:pathLst>
                <a:path w="7163308" h="6522720">
                  <a:moveTo>
                    <a:pt x="0" y="1087120"/>
                  </a:moveTo>
                  <a:cubicBezTo>
                    <a:pt x="0" y="486791"/>
                    <a:pt x="486791" y="0"/>
                    <a:pt x="1087120" y="0"/>
                  </a:cubicBezTo>
                  <a:lnTo>
                    <a:pt x="6076188" y="0"/>
                  </a:lnTo>
                  <a:cubicBezTo>
                    <a:pt x="6676644" y="0"/>
                    <a:pt x="7163308" y="486791"/>
                    <a:pt x="7163308" y="1087120"/>
                  </a:cubicBezTo>
                  <a:lnTo>
                    <a:pt x="7163308" y="5435600"/>
                  </a:lnTo>
                  <a:cubicBezTo>
                    <a:pt x="7163308" y="6036056"/>
                    <a:pt x="6676517" y="6522720"/>
                    <a:pt x="6076188" y="6522720"/>
                  </a:cubicBezTo>
                  <a:lnTo>
                    <a:pt x="1087120" y="6522720"/>
                  </a:lnTo>
                  <a:cubicBezTo>
                    <a:pt x="486791" y="6522720"/>
                    <a:pt x="0" y="6036056"/>
                    <a:pt x="0" y="5435600"/>
                  </a:cubicBezTo>
                  <a:close/>
                </a:path>
              </a:pathLst>
            </a:custGeom>
            <a:solidFill>
              <a:srgbClr val="12273B"/>
            </a:solidFill>
            <a:ln w="19065" cap="sq">
              <a:solidFill>
                <a:srgbClr val="304F67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17706" y="9471441"/>
            <a:ext cx="17062313" cy="20593"/>
            <a:chOff x="0" y="0"/>
            <a:chExt cx="22749751" cy="2745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749763" cy="27432"/>
            </a:xfrm>
            <a:custGeom>
              <a:avLst/>
              <a:gdLst/>
              <a:ahLst/>
              <a:cxnLst/>
              <a:rect l="l" t="t" r="r" b="b"/>
              <a:pathLst>
                <a:path w="22749763" h="27432">
                  <a:moveTo>
                    <a:pt x="0" y="0"/>
                  </a:moveTo>
                  <a:lnTo>
                    <a:pt x="22749763" y="0"/>
                  </a:lnTo>
                  <a:lnTo>
                    <a:pt x="22749763" y="27432"/>
                  </a:lnTo>
                  <a:lnTo>
                    <a:pt x="0" y="27432"/>
                  </a:lnTo>
                  <a:close/>
                </a:path>
              </a:pathLst>
            </a:custGeom>
            <a:solidFill>
              <a:srgbClr val="304F67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59907" y="2411188"/>
            <a:ext cx="2499393" cy="833131"/>
          </a:xfrm>
          <a:custGeom>
            <a:avLst/>
            <a:gdLst/>
            <a:ahLst/>
            <a:cxnLst/>
            <a:rect l="l" t="t" r="r" b="b"/>
            <a:pathLst>
              <a:path w="2499393" h="833131">
                <a:moveTo>
                  <a:pt x="0" y="0"/>
                </a:moveTo>
                <a:lnTo>
                  <a:pt x="2499393" y="0"/>
                </a:lnTo>
                <a:lnTo>
                  <a:pt x="2499393" y="833131"/>
                </a:lnTo>
                <a:lnTo>
                  <a:pt x="0" y="8331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TextBox 18"/>
          <p:cNvSpPr txBox="1"/>
          <p:nvPr/>
        </p:nvSpPr>
        <p:spPr>
          <a:xfrm>
            <a:off x="1299391" y="3989489"/>
            <a:ext cx="462147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EXPECTED IMPACT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4616" y="3989489"/>
            <a:ext cx="4346943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NEXT 6–12 MONTHS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64616" y="4644171"/>
            <a:ext cx="4346943" cy="359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01 — Improve Signal Quality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Better acquisition hardware and noise reduction.</a:t>
            </a:r>
          </a:p>
          <a:p>
            <a:r>
              <a:rPr lang="en-US" b="1" dirty="0">
                <a:solidFill>
                  <a:schemeClr val="bg1"/>
                </a:solidFill>
              </a:rPr>
              <a:t>02 — ML-Based Classification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Move from threshold-based detection toward trained signal classification.</a:t>
            </a:r>
          </a:p>
          <a:p>
            <a:r>
              <a:rPr lang="en-US" b="1" dirty="0">
                <a:solidFill>
                  <a:schemeClr val="bg1"/>
                </a:solidFill>
              </a:rPr>
              <a:t>03 — Assistive Communication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Develop a more complete BCI communication interface.</a:t>
            </a:r>
          </a:p>
          <a:p>
            <a:r>
              <a:rPr lang="en-US" b="1" dirty="0">
                <a:solidFill>
                  <a:schemeClr val="bg1"/>
                </a:solidFill>
              </a:rPr>
              <a:t>04 — Real-World Validation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User testing, performance evaluation and usability studies.</a:t>
            </a:r>
          </a:p>
          <a:p>
            <a:pPr algn="l">
              <a:lnSpc>
                <a:spcPts val="2161"/>
              </a:lnSpc>
            </a:pPr>
            <a:endParaRPr lang="en-US" sz="1801" dirty="0">
              <a:solidFill>
                <a:schemeClr val="bg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2555303" y="3989489"/>
            <a:ext cx="4484208" cy="39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F5F7FA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838047" y="9626975"/>
            <a:ext cx="503453" cy="320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b="1">
                <a:solidFill>
                  <a:srgbClr val="2AC976"/>
                </a:solidFill>
                <a:latin typeface="Aptos Bold"/>
                <a:ea typeface="Aptos Bold"/>
                <a:cs typeface="Aptos Bold"/>
                <a:sym typeface="Aptos Bold"/>
              </a:rPr>
              <a:t>7/7</a:t>
            </a:r>
          </a:p>
        </p:txBody>
      </p:sp>
      <p:sp>
        <p:nvSpPr>
          <p:cNvPr id="26" name="Freeform 26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Freeform 27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Freeform 28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9" name="Freeform 29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0" name="Freeform 30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5" name="Freeform 35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TextBox 36"/>
          <p:cNvSpPr txBox="1"/>
          <p:nvPr/>
        </p:nvSpPr>
        <p:spPr>
          <a:xfrm>
            <a:off x="7351107" y="672521"/>
            <a:ext cx="3600082" cy="161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 School of Computer Science &amp; Engineering</a:t>
            </a:r>
          </a:p>
          <a:p>
            <a:pPr algn="ctr">
              <a:lnSpc>
                <a:spcPts val="3183"/>
              </a:lnSpc>
            </a:pPr>
            <a:endParaRPr lang="en-US" sz="2274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91DC3727-E134-F39A-3B73-F64B3B1A6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489" y="4541773"/>
            <a:ext cx="4701904" cy="4026374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HEALTHCARE IMPACT</a:t>
            </a:r>
          </a:p>
          <a:p>
            <a:pPr marL="0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Enable alternative human-computer interaction for people with limited conventional motor control.</a:t>
            </a:r>
          </a:p>
          <a:p>
            <a:pPr marL="0" indent="0">
              <a:buNone/>
            </a:pPr>
            <a:endParaRPr lang="en-US" sz="3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SOCIAL IMPACT</a:t>
            </a:r>
          </a:p>
          <a:p>
            <a:pPr marL="0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Improve accessibility and digital independence by providing another pathway for communication and interaction.</a:t>
            </a:r>
          </a:p>
          <a:p>
            <a:pPr marL="0" indent="0">
              <a:buNone/>
            </a:pPr>
            <a:endParaRPr lang="en-US" sz="38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TECHNOLOGICAL IMPACT</a:t>
            </a:r>
          </a:p>
          <a:p>
            <a:pPr marL="0" indent="0">
              <a:buNone/>
            </a:pPr>
            <a:r>
              <a:rPr lang="en-US" sz="3800" dirty="0">
                <a:solidFill>
                  <a:schemeClr val="bg1"/>
                </a:solidFill>
              </a:rPr>
              <a:t>Create an affordable platform for students, researchers and developers to experiment with BCI applications.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8E94C98-2275-21FD-B6B3-649B99ABE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765725"/>
              </p:ext>
            </p:extLst>
          </p:nvPr>
        </p:nvGraphicFramePr>
        <p:xfrm>
          <a:off x="12124457" y="4793445"/>
          <a:ext cx="5706343" cy="3082366"/>
        </p:xfrm>
        <a:graphic>
          <a:graphicData uri="http://schemas.openxmlformats.org/drawingml/2006/table">
            <a:tbl>
              <a:tblPr/>
              <a:tblGrid>
                <a:gridCol w="2878426">
                  <a:extLst>
                    <a:ext uri="{9D8B030D-6E8A-4147-A177-3AD203B41FA5}">
                      <a16:colId xmlns:a16="http://schemas.microsoft.com/office/drawing/2014/main" val="3079316629"/>
                    </a:ext>
                  </a:extLst>
                </a:gridCol>
                <a:gridCol w="2827917">
                  <a:extLst>
                    <a:ext uri="{9D8B030D-6E8A-4147-A177-3AD203B41FA5}">
                      <a16:colId xmlns:a16="http://schemas.microsoft.com/office/drawing/2014/main" val="2546717468"/>
                    </a:ext>
                  </a:extLst>
                </a:gridCol>
              </a:tblGrid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35635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KISORE 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BCI / Hardware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3723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BALAMURUGAN 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Signal Processing /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33000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KARTHIK 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Software / Web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015772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Guru Sivesh C S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Product /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028270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i="0" kern="1200" dirty="0" err="1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Jeyasurya</a:t>
                      </a:r>
                      <a:r>
                        <a:rPr lang="en-IN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 Research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752687"/>
                  </a:ext>
                </a:extLst>
              </a:tr>
              <a:tr h="440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Contact Mail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sparkwave377@gmail.com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5259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" b="-2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302297" cy="82363"/>
            <a:chOff x="0" y="0"/>
            <a:chExt cx="24403063" cy="1098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03050" cy="109855"/>
            </a:xfrm>
            <a:custGeom>
              <a:avLst/>
              <a:gdLst/>
              <a:ahLst/>
              <a:cxnLst/>
              <a:rect l="l" t="t" r="r" b="b"/>
              <a:pathLst>
                <a:path w="24403050" h="109855">
                  <a:moveTo>
                    <a:pt x="0" y="0"/>
                  </a:moveTo>
                  <a:lnTo>
                    <a:pt x="24403050" y="0"/>
                  </a:lnTo>
                  <a:lnTo>
                    <a:pt x="24403050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2AC97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10185225"/>
            <a:ext cx="18302297" cy="109814"/>
            <a:chOff x="0" y="0"/>
            <a:chExt cx="24403063" cy="1464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403050" cy="146431"/>
            </a:xfrm>
            <a:custGeom>
              <a:avLst/>
              <a:gdLst/>
              <a:ahLst/>
              <a:cxnLst/>
              <a:rect l="l" t="t" r="r" b="b"/>
              <a:pathLst>
                <a:path w="24403050" h="146431">
                  <a:moveTo>
                    <a:pt x="0" y="0"/>
                  </a:moveTo>
                  <a:lnTo>
                    <a:pt x="24403050" y="0"/>
                  </a:lnTo>
                  <a:lnTo>
                    <a:pt x="24403050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278DD6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07542" y="4271782"/>
            <a:ext cx="8210883" cy="1944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35"/>
              </a:lnSpc>
            </a:pP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han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 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y</a:t>
            </a:r>
            <a:r>
              <a:rPr lang="en-US" sz="12696">
                <a:solidFill>
                  <a:srgbClr val="278DD6"/>
                </a:solidFill>
                <a:latin typeface="Archivo Black"/>
                <a:ea typeface="Archivo Black"/>
                <a:cs typeface="Archivo Black"/>
                <a:sym typeface="Archivo Black"/>
              </a:rPr>
              <a:t>o</a:t>
            </a:r>
            <a:r>
              <a:rPr lang="en-US" sz="1269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</a:t>
            </a:r>
            <a:r>
              <a:rPr lang="en-US" sz="12696">
                <a:solidFill>
                  <a:srgbClr val="FFC7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8" name="Freeform 8"/>
          <p:cNvSpPr/>
          <p:nvPr/>
        </p:nvSpPr>
        <p:spPr>
          <a:xfrm>
            <a:off x="4103306" y="3669868"/>
            <a:ext cx="2358214" cy="2635006"/>
          </a:xfrm>
          <a:custGeom>
            <a:avLst/>
            <a:gdLst/>
            <a:ahLst/>
            <a:cxnLst/>
            <a:rect l="l" t="t" r="r" b="b"/>
            <a:pathLst>
              <a:path w="2358214" h="2635006">
                <a:moveTo>
                  <a:pt x="0" y="0"/>
                </a:moveTo>
                <a:lnTo>
                  <a:pt x="2358214" y="0"/>
                </a:lnTo>
                <a:lnTo>
                  <a:pt x="2358214" y="2635006"/>
                </a:lnTo>
                <a:lnTo>
                  <a:pt x="0" y="263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2479" t="-4075" r="-127625" b="-9317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77773" y="9672352"/>
            <a:ext cx="13543845" cy="261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>
                <a:solidFill>
                  <a:srgbClr val="B1C0CD"/>
                </a:solidFill>
                <a:latin typeface="Aptos"/>
                <a:ea typeface="Aptos"/>
                <a:cs typeface="Aptos"/>
                <a:sym typeface="Aptos"/>
              </a:rPr>
              <a:t>VMEDITHON 3.0  •  HACKATHON &amp; BUILDATHON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777773" y="8068652"/>
            <a:ext cx="3568945" cy="1189648"/>
          </a:xfrm>
          <a:custGeom>
            <a:avLst/>
            <a:gdLst/>
            <a:ahLst/>
            <a:cxnLst/>
            <a:rect l="l" t="t" r="r" b="b"/>
            <a:pathLst>
              <a:path w="3568945" h="1189648">
                <a:moveTo>
                  <a:pt x="0" y="0"/>
                </a:moveTo>
                <a:lnTo>
                  <a:pt x="3568946" y="0"/>
                </a:lnTo>
                <a:lnTo>
                  <a:pt x="3568946" y="1189648"/>
                </a:lnTo>
                <a:lnTo>
                  <a:pt x="0" y="118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505649" y="19050"/>
            <a:ext cx="2276856" cy="1955414"/>
          </a:xfrm>
          <a:custGeom>
            <a:avLst/>
            <a:gdLst/>
            <a:ahLst/>
            <a:cxnLst/>
            <a:rect l="l" t="t" r="r" b="b"/>
            <a:pathLst>
              <a:path w="2276856" h="1955414">
                <a:moveTo>
                  <a:pt x="0" y="0"/>
                </a:moveTo>
                <a:lnTo>
                  <a:pt x="2276856" y="0"/>
                </a:lnTo>
                <a:lnTo>
                  <a:pt x="2276856" y="1955414"/>
                </a:lnTo>
                <a:lnTo>
                  <a:pt x="0" y="1955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7646" b="-10000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3891143" y="9525"/>
            <a:ext cx="2059249" cy="2186645"/>
          </a:xfrm>
          <a:custGeom>
            <a:avLst/>
            <a:gdLst/>
            <a:ahLst/>
            <a:cxnLst/>
            <a:rect l="l" t="t" r="r" b="b"/>
            <a:pathLst>
              <a:path w="2059249" h="2186645">
                <a:moveTo>
                  <a:pt x="0" y="0"/>
                </a:moveTo>
                <a:lnTo>
                  <a:pt x="2059249" y="0"/>
                </a:lnTo>
                <a:lnTo>
                  <a:pt x="2059249" y="2186645"/>
                </a:lnTo>
                <a:lnTo>
                  <a:pt x="0" y="2186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8791" b="-8758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5603719" y="336157"/>
            <a:ext cx="2016514" cy="1935237"/>
          </a:xfrm>
          <a:custGeom>
            <a:avLst/>
            <a:gdLst/>
            <a:ahLst/>
            <a:cxnLst/>
            <a:rect l="l" t="t" r="r" b="b"/>
            <a:pathLst>
              <a:path w="2016514" h="1935237">
                <a:moveTo>
                  <a:pt x="0" y="0"/>
                </a:moveTo>
                <a:lnTo>
                  <a:pt x="2016514" y="0"/>
                </a:lnTo>
                <a:lnTo>
                  <a:pt x="2016514" y="1935238"/>
                </a:lnTo>
                <a:lnTo>
                  <a:pt x="0" y="1935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9871" r="-20211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0837545" y="71434"/>
            <a:ext cx="3650548" cy="2464684"/>
          </a:xfrm>
          <a:custGeom>
            <a:avLst/>
            <a:gdLst/>
            <a:ahLst/>
            <a:cxnLst/>
            <a:rect l="l" t="t" r="r" b="b"/>
            <a:pathLst>
              <a:path w="3650548" h="2464684">
                <a:moveTo>
                  <a:pt x="0" y="0"/>
                </a:moveTo>
                <a:lnTo>
                  <a:pt x="3650547" y="0"/>
                </a:lnTo>
                <a:lnTo>
                  <a:pt x="3650547" y="2464684"/>
                </a:lnTo>
                <a:lnTo>
                  <a:pt x="0" y="2464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05" t="-153689" r="-87488" b="-1883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6192765" y="336157"/>
            <a:ext cx="1794017" cy="1957095"/>
          </a:xfrm>
          <a:custGeom>
            <a:avLst/>
            <a:gdLst/>
            <a:ahLst/>
            <a:cxnLst/>
            <a:rect l="l" t="t" r="r" b="b"/>
            <a:pathLst>
              <a:path w="1794017" h="1957095">
                <a:moveTo>
                  <a:pt x="0" y="0"/>
                </a:moveTo>
                <a:lnTo>
                  <a:pt x="1794018" y="0"/>
                </a:lnTo>
                <a:lnTo>
                  <a:pt x="1794018" y="1957095"/>
                </a:lnTo>
                <a:lnTo>
                  <a:pt x="0" y="1957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55724" t="-115126" r="-9421" b="-8019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4650017" y="631433"/>
            <a:ext cx="1312757" cy="131275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5016504" y="865339"/>
            <a:ext cx="681540" cy="844946"/>
          </a:xfrm>
          <a:custGeom>
            <a:avLst/>
            <a:gdLst/>
            <a:ahLst/>
            <a:cxnLst/>
            <a:rect l="l" t="t" r="r" b="b"/>
            <a:pathLst>
              <a:path w="681540" h="844946">
                <a:moveTo>
                  <a:pt x="0" y="0"/>
                </a:moveTo>
                <a:lnTo>
                  <a:pt x="681540" y="0"/>
                </a:lnTo>
                <a:lnTo>
                  <a:pt x="681540" y="844946"/>
                </a:lnTo>
                <a:lnTo>
                  <a:pt x="0" y="844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51987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2685759" y="420802"/>
            <a:ext cx="1264569" cy="1422171"/>
          </a:xfrm>
          <a:custGeom>
            <a:avLst/>
            <a:gdLst/>
            <a:ahLst/>
            <a:cxnLst/>
            <a:rect l="l" t="t" r="r" b="b"/>
            <a:pathLst>
              <a:path w="1264569" h="1422171">
                <a:moveTo>
                  <a:pt x="0" y="0"/>
                </a:moveTo>
                <a:lnTo>
                  <a:pt x="1264569" y="0"/>
                </a:lnTo>
                <a:lnTo>
                  <a:pt x="1264569" y="1422171"/>
                </a:lnTo>
                <a:lnTo>
                  <a:pt x="0" y="14221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351107" y="672521"/>
            <a:ext cx="3600082" cy="1192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School of Computer Science &amp; Engineering</a:t>
            </a:r>
          </a:p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(SCOPE)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902</Words>
  <Application>Microsoft Office PowerPoint</Application>
  <PresentationFormat>Custom</PresentationFormat>
  <Paragraphs>153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Courier New</vt:lpstr>
      <vt:lpstr>Calibri (MS)</vt:lpstr>
      <vt:lpstr>Calibri</vt:lpstr>
      <vt:lpstr>Arial</vt:lpstr>
      <vt:lpstr>Calibri (MS) Bold</vt:lpstr>
      <vt:lpstr>Aptos Bold</vt:lpstr>
      <vt:lpstr>Archivo Black</vt:lpstr>
      <vt:lpstr>Aptos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VMEDITHON_3.0_Participant_Submission_Template.pptx</dc:title>
  <dc:creator>Kisore</dc:creator>
  <cp:lastModifiedBy>Spark Wave</cp:lastModifiedBy>
  <cp:revision>4</cp:revision>
  <dcterms:created xsi:type="dcterms:W3CDTF">2006-08-16T00:00:00Z</dcterms:created>
  <dcterms:modified xsi:type="dcterms:W3CDTF">2026-09-12T16:40:16Z</dcterms:modified>
  <dc:identifier>DAHUUwFGJrI</dc:identifier>
</cp:coreProperties>
</file>